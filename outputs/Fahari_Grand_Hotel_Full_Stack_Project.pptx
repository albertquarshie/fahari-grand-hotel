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e8ac65aae54ef4" /><Relationship Type="http://schemas.openxmlformats.org/officeDocument/2006/relationships/extended-properties" Target="/docProps/app.xml" Id="R926939bdf2fe4ed2" /><Relationship Type="http://schemas.openxmlformats.org/officeDocument/2006/relationships/officeDocument" Target="/ppt/presentation.xml" Id="R707f013510e246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cf1942e976467e"/>
  </p:sldMasterIdLst>
  <p:notesMasterIdLst>
    <p:notesMasterId xmlns:r="http://schemas.openxmlformats.org/officeDocument/2006/relationships" r:id="R78f534fa18f24642"/>
  </p:notesMasterIdLst>
  <p:sldIdLst>
    <p:sldId xmlns:r="http://schemas.openxmlformats.org/officeDocument/2006/relationships" id="256" r:id="R9187e1a09d4749b9"/>
    <p:sldId xmlns:r="http://schemas.openxmlformats.org/officeDocument/2006/relationships" id="257" r:id="Rb29c54dcfd0149cd"/>
    <p:sldId xmlns:r="http://schemas.openxmlformats.org/officeDocument/2006/relationships" id="258" r:id="R1b3bd850d6724683"/>
    <p:sldId xmlns:r="http://schemas.openxmlformats.org/officeDocument/2006/relationships" id="259" r:id="R636ad8ba5a0b42c8"/>
    <p:sldId xmlns:r="http://schemas.openxmlformats.org/officeDocument/2006/relationships" id="260" r:id="R0f13e3f1722a4071"/>
    <p:sldId xmlns:r="http://schemas.openxmlformats.org/officeDocument/2006/relationships" id="261" r:id="Rbc3e8f0a9d874d51"/>
    <p:sldId xmlns:r="http://schemas.openxmlformats.org/officeDocument/2006/relationships" id="262" r:id="R5b10ad03d7b542d1"/>
    <p:sldId xmlns:r="http://schemas.openxmlformats.org/officeDocument/2006/relationships" id="263" r:id="Rd3cd4e1e8bbe4620"/>
    <p:sldId xmlns:r="http://schemas.openxmlformats.org/officeDocument/2006/relationships" id="264" r:id="Ra67742f8e05447e5"/>
    <p:sldId xmlns:r="http://schemas.openxmlformats.org/officeDocument/2006/relationships" id="265" r:id="Rf442f26ced2341ff"/>
    <p:sldId xmlns:r="http://schemas.openxmlformats.org/officeDocument/2006/relationships" id="266" r:id="R9ad18e3b04c54b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4b1f32dd854b95" /><Relationship Type="http://schemas.openxmlformats.org/officeDocument/2006/relationships/slideMaster" Target="/ppt/slideMasters/slideMaster1.xml" Id="Rdecf1942e976467e" /><Relationship Type="http://schemas.openxmlformats.org/officeDocument/2006/relationships/notesMaster" Target="/ppt/notesMasters/notesMaster1.xml" Id="R78f534fa18f24642" /><Relationship Type="http://schemas.openxmlformats.org/officeDocument/2006/relationships/presProps" Target="/ppt/presProps.xml" Id="R4e2fe1cb45b54eba" /><Relationship Type="http://schemas.openxmlformats.org/officeDocument/2006/relationships/tableStyles" Target="/ppt/tableStyles.xml" Id="R693dd5bbc4f84997" /><Relationship Type="http://schemas.openxmlformats.org/officeDocument/2006/relationships/slide" Target="/ppt/slides/slide1.xml" Id="R9187e1a09d4749b9" /><Relationship Type="http://schemas.openxmlformats.org/officeDocument/2006/relationships/slide" Target="/ppt/slides/slide2.xml" Id="Rb29c54dcfd0149cd" /><Relationship Type="http://schemas.openxmlformats.org/officeDocument/2006/relationships/slide" Target="/ppt/slides/slide3.xml" Id="R1b3bd850d6724683" /><Relationship Type="http://schemas.openxmlformats.org/officeDocument/2006/relationships/slide" Target="/ppt/slides/slide4.xml" Id="R636ad8ba5a0b42c8" /><Relationship Type="http://schemas.openxmlformats.org/officeDocument/2006/relationships/slide" Target="/ppt/slides/slide5.xml" Id="R0f13e3f1722a4071" /><Relationship Type="http://schemas.openxmlformats.org/officeDocument/2006/relationships/slide" Target="/ppt/slides/slide6.xml" Id="Rbc3e8f0a9d874d51" /><Relationship Type="http://schemas.openxmlformats.org/officeDocument/2006/relationships/slide" Target="/ppt/slides/slide7.xml" Id="R5b10ad03d7b542d1" /><Relationship Type="http://schemas.openxmlformats.org/officeDocument/2006/relationships/slide" Target="/ppt/slides/slide8.xml" Id="Rd3cd4e1e8bbe4620" /><Relationship Type="http://schemas.openxmlformats.org/officeDocument/2006/relationships/slide" Target="/ppt/slides/slide9.xml" Id="Ra67742f8e05447e5" /><Relationship Type="http://schemas.openxmlformats.org/officeDocument/2006/relationships/slide" Target="/ppt/slides/slide10.xml" Id="Rf442f26ced2341ff" /><Relationship Type="http://schemas.openxmlformats.org/officeDocument/2006/relationships/slide" Target="/ppt/slides/slide11.xml" Id="R9ad18e3b04c54b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3b76864d346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f52a0f1bbb411a" /><Relationship Type="http://schemas.openxmlformats.org/officeDocument/2006/relationships/notesMaster" Target="/ppt/notesMasters/notesMaster1.xml" Id="R7462adbd570042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f876a7e32149ef" /><Relationship Type="http://schemas.openxmlformats.org/officeDocument/2006/relationships/notesMaster" Target="/ppt/notesMasters/notesMaster1.xml" Id="Rf7165b1b219c43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1639bb43784f24" /><Relationship Type="http://schemas.openxmlformats.org/officeDocument/2006/relationships/notesMaster" Target="/ppt/notesMasters/notesMaster1.xml" Id="R6308c411a05842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2ed6541a0045bd" /><Relationship Type="http://schemas.openxmlformats.org/officeDocument/2006/relationships/notesMaster" Target="/ppt/notesMasters/notesMaster1.xml" Id="Rfa2dffaa389241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79206155ba499e" /><Relationship Type="http://schemas.openxmlformats.org/officeDocument/2006/relationships/notesMaster" Target="/ppt/notesMasters/notesMaster1.xml" Id="Rbc1dd55f728b49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ba34f392114499" /><Relationship Type="http://schemas.openxmlformats.org/officeDocument/2006/relationships/notesMaster" Target="/ppt/notesMasters/notesMaster1.xml" Id="R296fe63c1f6645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1e4e867cd74c4d" /><Relationship Type="http://schemas.openxmlformats.org/officeDocument/2006/relationships/notesMaster" Target="/ppt/notesMasters/notesMaster1.xml" Id="Rf953dbd1b9b243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9ca5943f9443f6" /><Relationship Type="http://schemas.openxmlformats.org/officeDocument/2006/relationships/notesMaster" Target="/ppt/notesMasters/notesMaster1.xml" Id="Rbc06274c994645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e80e3e06ea4637" /><Relationship Type="http://schemas.openxmlformats.org/officeDocument/2006/relationships/notesMaster" Target="/ppt/notesMasters/notesMaster1.xml" Id="Re9cea48fa84a4a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cd89290c434eb3" /><Relationship Type="http://schemas.openxmlformats.org/officeDocument/2006/relationships/notesMaster" Target="/ppt/notesMasters/notesMaster1.xml" Id="R983abb0faf9b44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34989971c2421a" /><Relationship Type="http://schemas.openxmlformats.org/officeDocument/2006/relationships/notesMaster" Target="/ppt/notesMasters/notesMaster1.xml" Id="Rebd5952601de41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79c2f8d194a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cc95b322bd46b5" /><Relationship Type="http://schemas.openxmlformats.org/officeDocument/2006/relationships/slideLayout" Target="/ppt/slideLayouts/slideLayout1.xml" Id="R160fdd17414f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fdd17414f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7fa83936a4740" /><Relationship Type="http://schemas.openxmlformats.org/officeDocument/2006/relationships/image" Target="/ppt/media/image.png" Id="Rf884a819fe4241f5" /><Relationship Type="http://schemas.openxmlformats.org/officeDocument/2006/relationships/notesSlide" Target="/ppt/notesSlides/notesSlide1.xml" Id="Rf5c02a42996f4e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dbae9b1854309" /><Relationship Type="http://schemas.openxmlformats.org/officeDocument/2006/relationships/notesSlide" Target="/ppt/notesSlides/notesSlide2.xml" Id="Ref320e560dcf45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f173163a74c52" /><Relationship Type="http://schemas.openxmlformats.org/officeDocument/2006/relationships/notesSlide" Target="/ppt/notesSlides/notesSlide3.xml" Id="Rdb858ab8083540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4c65f58ed49ff" /><Relationship Type="http://schemas.openxmlformats.org/officeDocument/2006/relationships/notesSlide" Target="/ppt/notesSlides/notesSlide4.xml" Id="R2f8e3f5e363844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65c4cadfb493d" /><Relationship Type="http://schemas.openxmlformats.org/officeDocument/2006/relationships/notesSlide" Target="/ppt/notesSlides/notesSlide5.xml" Id="R9f216d652c1645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0f683b6704b6b" /><Relationship Type="http://schemas.openxmlformats.org/officeDocument/2006/relationships/notesSlide" Target="/ppt/notesSlides/notesSlide6.xml" Id="R7676acfcb823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b8b06d909450d" /><Relationship Type="http://schemas.openxmlformats.org/officeDocument/2006/relationships/notesSlide" Target="/ppt/notesSlides/notesSlide7.xml" Id="R67dca7bc5ff04b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2cee356f94c0c" /><Relationship Type="http://schemas.openxmlformats.org/officeDocument/2006/relationships/notesSlide" Target="/ppt/notesSlides/notesSlide8.xml" Id="R3828658476ce40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f6340e064445" /><Relationship Type="http://schemas.openxmlformats.org/officeDocument/2006/relationships/notesSlide" Target="/ppt/notesSlides/notesSlide9.xml" Id="R7ae476bc5a8e40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706c4644e474f" /><Relationship Type="http://schemas.openxmlformats.org/officeDocument/2006/relationships/notesSlide" Target="/ppt/notesSlides/notesSlide10.xml" Id="R83d2080a7dc946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b07f6812a48b9" /><Relationship Type="http://schemas.openxmlformats.org/officeDocument/2006/relationships/notesSlide" Target="/ppt/notesSlides/notesSlide11.xml" Id="Re6a6999238cd4d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4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4a819fe4241f5"/>
          <a:srcRect xmlns:a="http://schemas.openxmlformats.org/drawingml/2006/main" l="1761" t="0" r="17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90863-6B47-4712-A18B-6FBC3F44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238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4D37E-FD07-4523-B97D-298E5A6B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75F53-2879-472E-9BDC-B3DA2ECB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60F41-EEE3-4ED1-8254-B639D61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FAHARI GRAND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HOTEL &amp; SUITES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0B2C9-2751-4888-A6C7-76AE3AC6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190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2AD2-42DC-4CF2-8122-0FF7CB1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9B3C"/>
                </a:solidFill>
              </a:defRPr>
            </a:pPr>
            <a:r>
              <a:rPr sz="1500" b="1">
                <a:solidFill>
                  <a:srgbClr val="C89B3C"/>
                </a:solidFill>
              </a:rPr>
              <a:t>A FULL STACK HOTEL MANAGEMENT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CF185-67FD-4F9A-9F05-327EAE42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9F3EF"/>
                </a:solidFill>
              </a:defRPr>
            </a:pPr>
            <a:r>
              <a:rPr sz="1800" b="0">
                <a:solidFill>
                  <a:srgbClr val="E9F3EF"/>
                </a:solidFill>
              </a:rPr>
              <a:t>React guest and staff portals powered by a Django REST API, PostgreSQL data layer, JWT authentication, and M-Pesa booking payments.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D6135-F9C8-48D9-B652-B0A7F8D1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By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Albert Junior Quarshie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B1236-1212-46A3-8672-909F2BD2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9B3C"/>
                </a:solidFill>
              </a:defRPr>
            </a:pPr>
            <a:r>
              <a:rPr sz="1500" b="0">
                <a:solidFill>
                  <a:srgbClr val="C89B3C"/>
                </a:solidFill>
              </a:rPr>
              <a:t>"Where magnificence lives."</a:t>
            </a:r>
          </a:p>
        </p:txBody>
      </p:sp>
    </p:spTree>
    <p:extLst>
      <p:ext uri="{BB962C8B-B14F-4D97-AF65-F5344CB8AC3E}">
        <p14:creationId xmlns:p14="http://schemas.microsoft.com/office/powerpoint/2010/main" val="10946509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76C00-3ED3-429F-87C7-6258D24E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8ED1B-6B31-467F-982F-D0F4B4C3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9C695-693A-4464-A35C-82BCCB5C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E31C3-90AB-4FB7-B92D-4BDCEF5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66BD3-8B19-4477-932D-CAE87740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E5587-00CA-41F0-950A-084F8360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3BE49-D971-4B5E-A438-67DB17FC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61896-3A27-49E9-B2FF-7212BD5F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28612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3C8F7-7E5D-47E7-9F4B-5F3ACAC9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82BC3-4BE5-4D8E-9222-C175BBB1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1  Fragmented Hotel 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4571A-7EE8-4D6E-9642-92BFE66A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8670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Guests, receptionists, admins, and housekeepers need one connected system instead of separate booking, payment, and room-status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28460-48FA-4554-8FDF-201845D8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3D6AB-D80D-41B5-A102-A034444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A4C932-22EB-45A3-818A-65F4AA71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2  Manual Booking &amp; Payment Tracking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5C421-B6DC-4AA7-87D4-CB428D6A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8670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Without server-side validation and payment records, hotels risk double-bookings, delayed confirmations, and unreliable revenue visibility.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58C6B-5A97-43E2-9BB6-7B095F43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28612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FAD8B-539D-4B5F-B723-38552ED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solidFill>
              <a:srgbClr val="B866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E135B-92F2-49C1-B48A-2E53ACD8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2867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3  Slow Staff Coordination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3AE75-F316-4E54-AEE2-D7AE45F0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86702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Room availability, check-in, checkout, cleaning, maintenance, and review moderation all depend on timely updates across roles.</a:t>
            </a:r>
          </a:p>
        </p:txBody>
      </p:sp>
    </p:spTree>
    <p:extLst>
      <p:ext uri="{BB962C8B-B14F-4D97-AF65-F5344CB8AC3E}">
        <p14:creationId xmlns:p14="http://schemas.microsoft.com/office/powerpoint/2010/main" val="1802867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74105-809C-4149-9E1D-2A560FE2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5BF3B-2E4E-4F2A-AE30-5A3B3ED8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C1921-86EC-459A-B99A-435B0611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25122-75EA-4249-A297-DC0FE81B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0DE46-DA00-4AE5-A16B-8836CAB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PROJECT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45C9E-CC2C-4969-AD80-37D4891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1A058-9409-4178-AE9B-8A08BA32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EBA35-43D7-4305-89D0-0E67F2B7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Fahari Grand Hotel &amp; Suites is a full-stack hotel management platform for guest reservations and staff operations. The React/Vite frontend delivers role-based dashboards, while the Django REST backend manages users, rooms, bookings, payments, housekeeping, maintenance, reviews, and admin analytics.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94939-4547-4186-BD49-3DE8C48E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FCE35-CD7A-40DF-9B11-CFF23A42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F766E"/>
                </a:solidFill>
              </a:defRPr>
            </a:pPr>
            <a:r>
              <a:rPr sz="2325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87A58-D91B-4217-9BE3-E9A33CE4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User roles with scoped workflows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5E658-117E-4AC8-A2C7-9550DE8E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74BD6-F880-49B7-B753-33431F87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3147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9B3C"/>
                </a:solidFill>
              </a:defRPr>
            </a:pPr>
            <a:r>
              <a:rPr sz="2325" b="1">
                <a:solidFill>
                  <a:srgbClr val="C89B3C"/>
                </a:solidFill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921CD-ED24-4A47-9FC9-54345D13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909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Core backend resource areas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E9E71-DA01-46AC-AD79-DDA5F03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11066-A4FC-4A55-8181-9F85044E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147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8663B"/>
                </a:solidFill>
              </a:defRPr>
            </a:pPr>
            <a:r>
              <a:rPr sz="2325" b="1">
                <a:solidFill>
                  <a:srgbClr val="B8663B"/>
                </a:solidFill>
              </a:rPr>
              <a:t>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D709F-C579-4127-A15A-586722D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Secure API authentication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9C593D-1421-4F20-8AAF-6E48F215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432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01A55-6823-4724-ADDF-702BFA32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1470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55A"/>
                </a:solidFill>
              </a:defRPr>
            </a:pPr>
            <a:r>
              <a:rPr sz="2325" b="1">
                <a:solidFill>
                  <a:srgbClr val="2F855A"/>
                </a:solidFill>
              </a:rPr>
              <a:t>M-Pesa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FE64A-B4D6-4E17-AAC9-B1F51A45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79095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STK push payment 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CC0F7-C3B2-4DA5-93BF-68E932E5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707A"/>
                </a:solidFill>
              </a:defRPr>
            </a:pPr>
            <a:r>
              <a:rPr sz="1425" b="0">
                <a:solidFill>
                  <a:srgbClr val="60707A"/>
                </a:solidFill>
              </a:rPr>
              <a:t>Frontend: Vercel-ready React app. Backend: Render-ready Django API with PostgreSQL and Cloudinary media support.</a:t>
            </a:r>
          </a:p>
        </p:txBody>
      </p:sp>
    </p:spTree>
    <p:extLst>
      <p:ext uri="{BB962C8B-B14F-4D97-AF65-F5344CB8AC3E}">
        <p14:creationId xmlns:p14="http://schemas.microsoft.com/office/powerpoint/2010/main" val="742561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9E157-1C96-4F25-910E-15F200C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81151-90D1-41FC-BD4A-78D8F7B9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788A4-FE69-4642-A9BC-22552794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A3E68-6D9A-4004-AFB8-D453F46D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EDCA7-A2BD-4D0E-A136-531CF6A0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FULL STACK SYSTEM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EA7E4-0336-4F0C-9162-AA727F7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A38CF-9777-4FBA-ACE1-EBD9B387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1388F-4B49-43B1-BB93-6B54FFCF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14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User Experience Needs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D9F43-5D00-4227-BFDB-1D9920F7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9B3C"/>
                </a:solidFill>
              </a:defRPr>
            </a:pPr>
            <a:r>
              <a:rPr sz="1875" b="1">
                <a:solidFill>
                  <a:srgbClr val="C89B3C"/>
                </a:solidFill>
              </a:rPr>
              <a:t>Backend Reliability 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348D8-6A9D-4ACC-8D38-160F4F0D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428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7E13A-6B0C-4B53-8EA1-6A6C679A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36EEF-E270-41C6-BF24-6E30552D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Clear Booking Journey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1429E-FDB0-4765-96B3-6566AE17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2892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Guests need room discovery, date selection, booking creation, payment, and status feedback in one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27F45-67C9-4D7B-97AF-BECF1589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28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F5D55-74E9-4AB2-A32F-23EC2D44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EE894-33A6-4676-8D17-F8371A96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Role-Specific Dashboards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27B02-6E6F-41FB-AE7E-B40B7E8A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Reception, housekeeping, admin, and guest screens should show only the actions each role needs.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1C89C-4731-4FE1-B40D-5B57DC8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28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BE8BC-FADF-4929-8680-AE9F4A7A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95A7F-2CF0-4354-B2C5-5CC377E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28875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Availability Protection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F2475-7406-4313-B6F2-382A04B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2892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The API validates date ranges and overlapping bookings before saving reservations.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C2E3E-5DFE-4765-B74D-DD4F594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286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BABAC-F6DA-4A81-91A6-0FF47AB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0AB77-42E0-44FB-9337-EB6F5D24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3867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Operational State Tracking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A797A3-06C1-435A-9993-74EC9B1F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Room, payment, booking, cleaning, maintenance, and review statuses are persisted centrally.</a:t>
            </a:r>
          </a:p>
        </p:txBody>
      </p:sp>
    </p:spTree>
    <p:extLst>
      <p:ext uri="{BB962C8B-B14F-4D97-AF65-F5344CB8AC3E}">
        <p14:creationId xmlns:p14="http://schemas.microsoft.com/office/powerpoint/2010/main" val="1210650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324EE-2875-46F6-AAE4-BF29C16F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771CD-F79B-4365-A14B-BC6B7E8C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992D7-9172-4326-B23F-5146ADE6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26F7F-6AEE-4840-A748-6659FA54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A2EF1-A542-4D3A-B43C-7D3FDA19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TARGET AUDIENCE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51F68-069F-46D9-93BE-8CC9CB0A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7F172-440E-4015-840C-846CD60F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8BD0C-8161-4067-921B-90FFCEF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95556-8402-45C6-9EAB-445371BC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09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9D264-6957-461D-A6D1-96535270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0002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Hotel Guests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BA6C0-3EFF-4B28-B37A-C0A23952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400300"/>
            <a:ext cx="405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Browse rooms, create bookings, pay with M-Pesa, report issues, and leave reviews after checkout.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E78C1-6FB5-4DC8-9682-B643113C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6F698-F7D3-49B7-B30F-F6C5DCD7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45E36-2A9C-4406-9712-9C8D1CEB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002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Receptionists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A1827-CE40-4956-8EF0-F5B26A30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00300"/>
            <a:ext cx="405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Confirm bookings, process check-ins/checkouts, create walk-in bookings, and view daily rosters.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7E94A-8D52-42D6-B2F9-9EAE6088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1D887-F6E4-43C0-9C98-FD494CC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B986F-3B60-4D67-9FE8-0A26A467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52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Housekeeping Staff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B0A77-7EE4-42A7-B9A5-F301F6A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352925"/>
            <a:ext cx="405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View assigned rooms, update cleaning status, and support maintenance follow-up.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0BCDF-9928-42F2-9988-FA564CD4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CEFB1-A0FD-4E9F-93FF-A6A94522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62375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solidFill>
              <a:srgbClr val="B866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406423-2892-41A5-A88A-6BA31ECF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952875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Hotel Admins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160B8-54B6-4395-912C-F93EBC5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352925"/>
            <a:ext cx="4057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Manage staff, rooms, reviews, maintenance, payments, and analytics from a central dashboard.</a:t>
            </a:r>
          </a:p>
        </p:txBody>
      </p:sp>
    </p:spTree>
    <p:extLst>
      <p:ext uri="{BB962C8B-B14F-4D97-AF65-F5344CB8AC3E}">
        <p14:creationId xmlns:p14="http://schemas.microsoft.com/office/powerpoint/2010/main" val="1925706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A9FF1-CF65-45DA-905B-7FC08251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1C757-66B0-4AD4-821A-9B63FF64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ED956-E5C1-45BF-B036-E3EAA9A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409E8-C599-4476-A2EB-2E253D79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3910F-F04D-45C3-875E-3E018D6B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FULL STACK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8E731-0611-49FF-BE52-0BC122BF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1BCA5-BEA5-4F62-9D1B-D400CBE6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B82C0-7EB1-427E-AFD0-F3C70CBB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152650" cy="22669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5EC56-5957-4432-B1E9-4F2F28AE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65ABA-5552-4124-8D95-FA537F2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Client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28BA3-855B-4E7C-A156-00DD1F0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733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React 19, Vite, Tailwind CSS, React Router, shared layouts, protected routes.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39011-872E-4603-9057-80E7036D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956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B3C"/>
                </a:solidFill>
              </a:defRPr>
            </a:pPr>
            <a:r>
              <a:rPr sz="2550" b="1">
                <a:solidFill>
                  <a:srgbClr val="C89B3C"/>
                </a:solidFill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217FA-9900-45C0-9C75-C596EA28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152650" cy="22669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4545B-0266-478D-BDFA-146D9B62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1EDD6-AFC5-42BD-804D-84CD8BA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API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3BC56-2557-413D-83AD-EE2F32F9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1733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Axios instance sends JWT-authenticated requests to Django REST endpoints.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8EE75-4441-4E7D-805E-E681B9C7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956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B3C"/>
                </a:solidFill>
              </a:defRPr>
            </a:pPr>
            <a:r>
              <a:rPr sz="2550" b="1">
                <a:solidFill>
                  <a:srgbClr val="C89B3C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09CD0-6C81-41B0-9A09-BCFD98CD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152650" cy="22669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8B85A-2563-4013-8055-4C8D1AAE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solidFill>
              <a:srgbClr val="B866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72C8B-0513-47A7-AF80-03820A81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Backend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A72D3A-055E-45D0-8186-6AAED0CE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1733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Django REST Framework viewsets, serializers, permissions, and business rules.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01FB5-38B7-4D77-9F38-8B5359AF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95625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B3C"/>
                </a:solidFill>
              </a:defRPr>
            </a:pPr>
            <a:r>
              <a:rPr sz="2550" b="1">
                <a:solidFill>
                  <a:srgbClr val="C89B3C"/>
                </a:solidFill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FEC35-372A-4701-B738-480F949D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152650" cy="22669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1D4C4-6307-4671-963A-52B86CD3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C14C8-74E3-40B8-8C71-28ED43F3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Data &amp; Services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07AF3B-5E0E-43A8-924E-D096FE8D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7335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PostgreSQL models, Cloudinary room/profile images, M-Pesa Daraja callbacks.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D1159-DE6C-4007-8EC6-640401AE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Request flow: UI action -&gt; Axios API call -&gt; DRF serializer/permission check -&gt; database update -&gt; response reflected in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6778785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0E26F-BB09-4D71-B755-4E7786A2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F1F17-9243-4B9E-98E6-C3F6F050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DFC9D-7CF4-439E-B30C-FD853A64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7E90C-6078-40BB-B4A1-9DA655AC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E348C-2159-4737-8F29-C566519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CORE SYSTEM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64F8D-1123-444F-AA9D-88B3CF31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5417D-B467-4FBB-8ED2-F7DC945A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1E866-2CF9-47A0-9CE1-CBD5BC99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842BA-1F8E-40ED-9B4F-195D3615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9764F-68D8-4794-B786-9940FE8F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Authentication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21A78-A893-4085-9A76-28523F8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819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Registration, login, token refresh, logout, profile update, and password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90597-9BE4-4C43-8A8E-E292CD63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361C4-3FB2-44C3-899D-B733F49F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6C738-F628-412A-8F19-17B47556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43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Room &amp; Booking Management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096E6-1F95-4C95-90EC-C6C54951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2819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Room filtering, reservation creation, cancellation, confirmation, check-in, and checkout.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6B520-22F5-4ECF-94DF-63B3D2EE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69498-7BAC-4B96-A03E-F6EDB21A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solidFill>
              <a:srgbClr val="B866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C1B69-F85C-4A0D-A0A4-1DBD9105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Payments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FB049-03A1-42AF-AE15-0F04BC0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2819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M-Pesa STK push initiation, status polling, callbacks, receipts, and booking confirmation.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28FDB-57D6-477B-962D-8729B8C2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5D5FD-7B29-4260-A3C9-3D1D8CE7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777933-230A-4F8B-BCE1-1E186597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AB340-FE96-4C40-9619-59A9FC04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2819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Housekeeping assignments, maintenance requests, receptionist roster, and walk-ins.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329A6-E75F-4BFA-B899-0307B785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6B01B8-BC03-48E6-8CB3-D029C2FE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E79F2-7298-45AF-8A27-242680F9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528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Admin Controls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9A6B7A-CA64-4DF4-8D56-37F5802D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52900"/>
            <a:ext cx="2819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Staff accounts, room inventory, payments, reviews, and dashboard analytics.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1B32C5-7F5B-42C3-BE77-CCC8BD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394F6-91B1-4D85-8AD6-07D26BE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682EB-6419-460D-AAF5-A67CBC96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Guest Experience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97FB08-1CF4-4277-AC8F-063AD2F4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52900"/>
            <a:ext cx="2819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Room browsing, booking history, issue reporting, reviews, and responsive navigation.</a:t>
            </a:r>
          </a:p>
        </p:txBody>
      </p:sp>
    </p:spTree>
    <p:extLst>
      <p:ext uri="{BB962C8B-B14F-4D97-AF65-F5344CB8AC3E}">
        <p14:creationId xmlns:p14="http://schemas.microsoft.com/office/powerpoint/2010/main" val="1028039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E0D5F0-F7DD-461E-ABBA-7A97D127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81EBB-4187-41DE-BC89-C149E762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49B26-1B28-4ADD-9C59-094A3BF6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9B9170-2EA4-41BE-9EE1-E47DB42B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0AC20-E74F-425B-ADF9-EE6CD11F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TECHNOLOGY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F2BB7-2E67-4CB6-A275-C3160A41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368DD-8EA7-4FD8-A400-D0D9C7DC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0F84D-6796-41F1-84A7-FB98F79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954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D4D11-1712-4E3A-A01F-B8BCB956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002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9140C-805D-4D96-84FF-750AFDCC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7239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1CBAF-9E38-43A7-A8D3-8C21C2BD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React 19, Vite, Tailwind CSS, React Router, Axios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39262-55BE-47CE-BC5D-4E1247B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DF434-F720-4970-95E4-8F1A0888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479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199F0-F615-45D1-985A-B953D99E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7239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57B7C-E907-4AF0-A206-DDD46335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Django, Django REST Framework, ViewSets, APIViews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50EC5-1EF7-4E2B-B323-471878EF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908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9FBBA9-E731-43F8-8ABE-94C1E709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956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Authentication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80F0F-68B7-45F4-B2F0-35E92B11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239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C53D3-0B44-4B84-A96A-D866646D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051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Simple JWT, protected frontend routes, role permissions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FAB0C-DE09-4660-ABBC-A56C0600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E2AE2-8E84-4FD4-BC2E-7F161BD9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433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Database &amp; Media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802BF-B3A6-4631-AB13-B4F8A8AC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7239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70702-48E1-461F-998E-B9962A0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PostgreSQL models, Cloudinary image fields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D261D0-8515-4450-9B35-75F19CA3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7CF6C-F367-4D1D-89AA-8BEC7F3F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91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E0510-A2B1-4B6E-933A-7A6111FE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7239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0E4D7-D84F-402E-A6F2-153375F8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Safaricom M-Pesa Daraja STK Push and callbacks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097E46-4C6F-4773-BF1E-D9CF01A0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6228F-D8E0-47B2-8EF6-FFED4FDB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387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49C3C-27F6-4C7A-AA96-B80B66E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33950"/>
            <a:ext cx="7239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60316-AFA0-43D1-83C2-EB01EB91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48250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Vercel frontend, Render backend, environment-based config</a:t>
            </a:r>
          </a:p>
        </p:txBody>
      </p:sp>
    </p:spTree>
    <p:extLst>
      <p:ext uri="{BB962C8B-B14F-4D97-AF65-F5344CB8AC3E}">
        <p14:creationId xmlns:p14="http://schemas.microsoft.com/office/powerpoint/2010/main" val="1636206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59A4D9-B195-4EF8-9A48-CDFFC2EA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C95E7-4413-4D96-B580-C20C4F81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94DA7-D94E-47EB-A43A-731C57F6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BC6E0-347A-4731-8E50-1FA527B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95063-19B1-4A41-8768-58B2081D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INNOVATIVE IMPLEMENTATION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F316B-F29D-473A-AFDF-803C645E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DEC50-6030-4835-A082-02875A8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131F6-6C9C-45B3-8886-A0EEE80F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13A5B-2A9F-4B6B-A6A9-5F13E74C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8477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9BEED-B896-4BDE-9EBE-6001EEE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C46C5-A355-410C-89D4-8CB81479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09750"/>
            <a:ext cx="805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Role-Aware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95533-5640-4D2C-A441-8103155D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09800"/>
            <a:ext cx="8058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ProtectedRoute and auth context route each user to the right dashboard while keeping unauthorized pages blocked.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A8052-5564-486E-BAAC-2DAF1C9F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9B3C"/>
                </a:solidFill>
              </a:defRPr>
            </a:pPr>
            <a:r>
              <a:rPr sz="2550" b="1">
                <a:solidFill>
                  <a:srgbClr val="C89B3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B35AE-7C3E-4286-A588-0D7FBED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8477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E3CAF-49C4-4A84-9A66-4B44C718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670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FF09D-D3BC-4600-A0D5-CBAFA5EC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805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Serializer-Level Booking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FA4C8-FB7B-4CD1-821B-B201F7EC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57550"/>
            <a:ext cx="8058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The backend validates checkout dates, past dates, and overlapping reservations before saving a booking.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256A70-1726-40F8-8532-EBBC601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663B"/>
                </a:solidFill>
              </a:defRPr>
            </a:pPr>
            <a:r>
              <a:rPr sz="2550" b="1">
                <a:solidFill>
                  <a:srgbClr val="B8663B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1E940-8E30-47F0-AA0C-3438AFFB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477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25C48-DEEF-42C0-B0FE-CCBA4A7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solidFill>
              <a:srgbClr val="B866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7B7B44-872A-4DAB-9761-A1E1F34F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05250"/>
            <a:ext cx="805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Payment-to-Booking Sync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1EB7A0-EA22-478E-A98C-C5FFF6D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05300"/>
            <a:ext cx="8058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M-Pesa callbacks and status checks update payment records and automatically confirm successful bookings.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91807-66BD-4EFF-ABCD-3BE574BF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855A"/>
                </a:solidFill>
              </a:defRPr>
            </a:pPr>
            <a:r>
              <a:rPr sz="2550" b="1">
                <a:solidFill>
                  <a:srgbClr val="2F855A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22AE7-8EA6-4180-843F-258BAA51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477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C87B8-78B3-4C73-95A1-930BFE3D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FCCF8-2325-4CFE-9C09-AD54C34D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53000"/>
            <a:ext cx="805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Operational Analytics Endpoint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6C6166-24AA-4F52-A125-771D39DD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353050"/>
            <a:ext cx="8058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The admin dashboard aggregates revenue, booking, room, staff, payment, review, housekeeping, and maintenance stats.</a:t>
            </a:r>
          </a:p>
        </p:txBody>
      </p:sp>
    </p:spTree>
    <p:extLst>
      <p:ext uri="{BB962C8B-B14F-4D97-AF65-F5344CB8AC3E}">
        <p14:creationId xmlns:p14="http://schemas.microsoft.com/office/powerpoint/2010/main" val="1092681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C091EB-71B8-43E3-AA83-B64FE634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FBF7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8B791-25F7-4FDC-B4AA-783B20F0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37F31-B0F4-4129-A202-FDE42713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9EAA7-FD63-40FB-839D-E537F83A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FAHARI GRAND HOTEL &amp; SUITES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C3B15-6AC0-4950-8F89-2FD13F5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2933"/>
                </a:solidFill>
              </a:defRPr>
            </a:pPr>
            <a:r>
              <a:rPr sz="2700" b="1">
                <a:solidFill>
                  <a:srgbClr val="1F2933"/>
                </a:solidFill>
              </a:rPr>
              <a:t>FUTURE ENHANCEMENTS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6E0DC-7A89-4B12-A417-DEAB871C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63AE8-2C1E-4200-A18F-5274F33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7A"/>
                </a:solidFill>
              </a:defRPr>
            </a:pPr>
            <a:r>
              <a:rPr sz="900" b="1">
                <a:solidFill>
                  <a:srgbClr val="60707A"/>
                </a:solidFill>
              </a:rPr>
              <a:t>FULL STACK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8DB86-4B86-48DC-83FC-BFB17BB3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3338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0E9F1-57E8-47C2-85A9-63F27748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17051-42CA-4488-8120-7642E568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3914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Live Notifications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E42C0-7C01-4903-A9CF-A5A8EB5B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09800"/>
            <a:ext cx="3914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Push alerts for payment confirmations, check-in reminders, and housekeeping assignments.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D9CF0-DEA3-4A49-A121-DFF0F0E8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3338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1ACEC-3E06-4516-A23D-198714D7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F23EEE-AA12-4C25-AF77-45E6D38C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3914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PDF Documents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E01CF-5159-4C57-B476-61AB553F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3914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Generate booking confirmations, invoices, and admin reports from backend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1A573-26ED-4FE4-BE80-13F431BD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3338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6425F-EC03-4690-BB69-8F1C5AAB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BF48A-D68C-4CDA-A16C-9C80ED2C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3914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Advanced Filters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4145F-C122-4A3E-8453-03F7417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95675"/>
            <a:ext cx="3914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Search guests, rooms, payments, reviews, and maintenance by date, status, and role.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C882B-2554-4E14-812F-B52088F7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433387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8BFE7-9EA9-48FA-8D06-F0F3C2DD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3B"/>
          </a:solidFill>
          <a:ln xmlns:a="http://schemas.openxmlformats.org/drawingml/2006/main" w="0">
            <a:solidFill>
              <a:srgbClr val="B866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28394-279B-43ED-AE54-8467DC6B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95625"/>
            <a:ext cx="3914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Realtime Updates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B506F-7B78-438F-B675-1D662330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95675"/>
            <a:ext cx="3914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Add WebSocket channels for room status, task queues, and receptionist rosters.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59DFE-B1F4-4B1B-B0B8-DA425068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93345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ADF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E322EF-BB9F-4C59-B90F-9BA5D0F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66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545885-09BF-4439-A6C7-764F0DCA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891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</a:defRPr>
            </a:pPr>
            <a:r>
              <a:rPr sz="1575" b="1">
                <a:solidFill>
                  <a:srgbClr val="1F2933"/>
                </a:solidFill>
              </a:rPr>
              <a:t>Localization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CE5CA-8B28-4A47-9CC5-2A075295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81550"/>
            <a:ext cx="891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7A"/>
                </a:solidFill>
              </a:defRPr>
            </a:pPr>
            <a:r>
              <a:rPr sz="1200" b="0">
                <a:solidFill>
                  <a:srgbClr val="60707A"/>
                </a:solidFill>
              </a:rPr>
              <a:t>Swahili and English language toggle for the Nairobi hospitality market.</a:t>
            </a:r>
          </a:p>
        </p:txBody>
      </p:sp>
    </p:spTree>
    <p:extLst>
      <p:ext uri="{BB962C8B-B14F-4D97-AF65-F5344CB8AC3E}">
        <p14:creationId xmlns:p14="http://schemas.microsoft.com/office/powerpoint/2010/main" val="12248890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4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2072F-91E9-4C89-A43D-5CEE1592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4A"/>
          </a:solidFill>
          <a:ln xmlns:a="http://schemas.openxmlformats.org/drawingml/2006/main" w="0">
            <a:solidFill>
              <a:srgbClr val="0B4F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5B35E-C77A-4685-A241-46D2658D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17EA0-7743-4960-AAC9-D9D8799B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A781B-D3D4-4419-9712-0CF2230C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035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0">
            <a:solidFill>
              <a:srgbClr val="C89B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DBCDE-5DDE-48F1-921B-2BCBB9AF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E9F3EF"/>
                </a:solidFill>
              </a:defRPr>
            </a:pPr>
            <a:r>
              <a:rPr sz="2100" b="0">
                <a:solidFill>
                  <a:srgbClr val="E9F3EF"/>
                </a:solidFill>
              </a:rPr>
              <a:t>Questions &amp; Feedback Welcome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E1C10-2710-4EED-A54F-0F383904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3860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DE3DD"/>
                </a:solidFill>
              </a:defRPr>
            </a:pPr>
            <a:r>
              <a:rPr sz="1575" b="0">
                <a:solidFill>
                  <a:srgbClr val="CDE3DD"/>
                </a:solidFill>
              </a:rPr>
              <a:t>A connected guest, staff, and admin platform for modern hotel operations.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9876A-6289-4C87-9E0D-55BF07FC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911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89B3C"/>
                </a:solidFill>
              </a:defRPr>
            </a:pPr>
            <a:r>
              <a:rPr sz="1800" b="0">
                <a:solidFill>
                  <a:srgbClr val="C89B3C"/>
                </a:solidFill>
              </a:rPr>
              <a:t>"Where magnificence lives."</a:t>
            </a:r>
          </a:p>
        </p:txBody>
      </p:sp>
    </p:spTree>
    <p:extLst>
      <p:ext uri="{BB962C8B-B14F-4D97-AF65-F5344CB8AC3E}">
        <p14:creationId xmlns:p14="http://schemas.microsoft.com/office/powerpoint/2010/main" val="817468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2026-07-01T15:07:01.9970000Z</dcterms:created>
  <dcterms:modified xsi:type="dcterms:W3CDTF">2026-07-01T15:07:01.9970000Z</dcterms:modified>
</coreProperties>
</file>